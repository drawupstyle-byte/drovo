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Культура.Онлайн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Цифровая платформа для учреждений культуры:</a:t>
            </a:r>
          </a:p>
          <a:p>
            <a:r>
              <a:t>современный сайт, афиша и онлайн-запись - без разработчика и долгого внедрения</a:t>
            </a:r>
          </a:p>
          <a:p/>
          <a:p>
            <a:r>
              <a:t>[Имя основателя] | [Email / сайт] | Стадия: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/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В чём суть проблемы:</a:t>
            </a:r>
          </a:p>
          <a:p>
            <a:pPr lvl="1">
              <a:defRPr sz="1800"/>
            </a:pPr>
            <a:r>
              <a:t>• В России ~16 000 учреждений культуры. Большинство не существуют в интернете</a:t>
            </a:r>
          </a:p>
          <a:p>
            <a:pPr lvl="1">
              <a:defRPr sz="1800"/>
            </a:pPr>
            <a:r>
              <a:t>• Молодёжь ищет куда пойти, ничего не находит и уходит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Цена проблемы:</a:t>
            </a:r>
          </a:p>
          <a:p>
            <a:pPr lvl="1">
              <a:defRPr sz="1800"/>
            </a:pPr>
            <a:r>
              <a:t>• Учреждения теряют десятки посетителей ежедневно</a:t>
            </a:r>
          </a:p>
          <a:p>
            <a:pPr lvl="1">
              <a:defRPr sz="1800"/>
            </a:pPr>
            <a:r>
              <a:t>• 2–5 млн руб./год упущенной выручки с одного места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Почему актуально сейчас:</a:t>
            </a:r>
          </a:p>
          <a:p>
            <a:pPr lvl="1">
              <a:defRPr sz="1800"/>
            </a:pPr>
            <a:r>
              <a:t>• Государство активно вкладывает в культуру (Пушкинская карта, нацпроект)</a:t>
            </a:r>
          </a:p>
          <a:p>
            <a:pPr lvl="1">
              <a:defRPr sz="1800"/>
            </a:pPr>
            <a:r>
              <a:t>• Цифровой инфраструктуры нет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/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Культура.Онлайн - готовая отраслевая платформа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Что получает учреждение:</a:t>
            </a:r>
          </a:p>
          <a:p>
            <a:pPr lvl="1">
              <a:defRPr sz="1800"/>
            </a:pPr>
            <a:r>
              <a:t>• Современный сайт</a:t>
            </a:r>
          </a:p>
          <a:p>
            <a:pPr lvl="1">
              <a:defRPr sz="1800"/>
            </a:pPr>
            <a:r>
              <a:t>• Афиша с онлайн-записью и продажей билетов</a:t>
            </a:r>
          </a:p>
          <a:p>
            <a:pPr lvl="1">
              <a:defRPr sz="1800"/>
            </a:pPr>
            <a:r>
              <a:t>• Интеграция с Пушкинской картой</a:t>
            </a:r>
          </a:p>
          <a:p>
            <a:pPr lvl="1">
              <a:defRPr sz="1800"/>
            </a:pPr>
            <a:r>
              <a:t>• Панель управления - мероприятие за 3 минуты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Технику берём на себя: хостинг, обновления, поддержка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/ ПРОДУКТ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Архитектура разработана один раз. Клиент - адаптация, не разработка.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Что входит:</a:t>
            </a:r>
          </a:p>
          <a:p>
            <a:pPr lvl="1">
              <a:defRPr sz="1800"/>
            </a:pPr>
            <a:r>
              <a:t>• Сайт с готовой структурой под культурное учреждение</a:t>
            </a:r>
          </a:p>
          <a:p>
            <a:pPr lvl="1">
              <a:defRPr sz="1800"/>
            </a:pPr>
            <a:r>
              <a:t>• Модуль афиши: сотрудник добавляет мероприятие сам</a:t>
            </a:r>
          </a:p>
          <a:p>
            <a:pPr lvl="1">
              <a:defRPr sz="1800"/>
            </a:pPr>
            <a:r>
              <a:t>• Онлайн-продажа билетов, включая Пушкинскую карту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Ключевые модули:</a:t>
            </a:r>
          </a:p>
          <a:p>
            <a:pPr lvl="1">
              <a:defRPr sz="1800"/>
            </a:pPr>
            <a:r>
              <a:t>• Афиша и календарь событий</a:t>
            </a:r>
          </a:p>
          <a:p>
            <a:pPr lvl="1">
              <a:defRPr sz="1800"/>
            </a:pPr>
            <a:r>
              <a:t>• Онлайн-бронирование и оплата</a:t>
            </a:r>
          </a:p>
          <a:p>
            <a:pPr lvl="1">
              <a:defRPr sz="1800"/>
            </a:pPr>
            <a:r>
              <a:t>• Интеграция с Пушкинской картой</a:t>
            </a:r>
          </a:p>
          <a:p>
            <a:pPr lvl="1">
              <a:defRPr sz="1800"/>
            </a:pPr>
            <a:r>
              <a:t>• Новости и публикации</a:t>
            </a:r>
          </a:p>
          <a:p>
            <a:pPr lvl="1">
              <a:defRPr sz="1800"/>
            </a:pPr>
            <a:r>
              <a:t>• Аналитика посещаемости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/ КОНКУРЕНЦИЯ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Культура.Онлайн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Конструктор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Госпортал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Готовая архитектура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частично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Срок запуска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7–14 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2–6 мес.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1–4 нед.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зависит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Ведение без разработчика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частично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Интеграция с Пушкинской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за деньги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частично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Тех. сопровождение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за деньги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низкая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бесплатно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/>
            </a:pPr>
            <a:r>
              <a:t>Главное: мы продукт, который знает, что такое объект культуры и Пушкинская карта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/ БИЗНЕС-МОДЕЛЬ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Монетизация: подписка + разовое внедрение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Тарифы:</a:t>
            </a:r>
          </a:p>
          <a:p>
            <a:pPr lvl="1">
              <a:defRPr sz="1800"/>
            </a:pPr>
            <a:r>
              <a:t>• Внедрение и настройка: 29 000 рублей</a:t>
            </a:r>
          </a:p>
          <a:p>
            <a:pPr lvl="1">
              <a:defRPr sz="1800"/>
            </a:pPr>
            <a:r>
              <a:t>• Подписка: 9 000 рублей/месяц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Кто клиенты:</a:t>
            </a:r>
          </a:p>
          <a:p>
            <a:pPr lvl="1">
              <a:defRPr sz="1800"/>
            </a:pPr>
            <a:r>
              <a:t>• Государственные и муниципальные музеи, галереи (300–500)</a:t>
            </a:r>
          </a:p>
          <a:p>
            <a:pPr lvl="1">
              <a:defRPr sz="1800"/>
            </a:pPr>
            <a:r>
              <a:t>• Дома культуры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Каналы привлечения:</a:t>
            </a:r>
          </a:p>
          <a:p>
            <a:pPr lvl="1">
              <a:defRPr sz="1800"/>
            </a:pPr>
            <a:r>
              <a:t>• Прямые переговоры</a:t>
            </a:r>
          </a:p>
          <a:p>
            <a:pPr lvl="1">
              <a:defRPr sz="1800"/>
            </a:pPr>
            <a:r>
              <a:t>• Отраслевые форумы</a:t>
            </a:r>
          </a:p>
          <a:p>
            <a:pPr lvl="1">
              <a:defRPr sz="1800"/>
            </a:pPr>
            <a:r>
              <a:t>• Партнёрство с министерствами культуры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/ РЫНОК (TAM/SAM/SOM)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TAM: ~750 млн руб./год</a:t>
            </a:r>
          </a:p>
          <a:p>
            <a:pPr lvl="1">
              <a:defRPr sz="1800"/>
            </a:pPr>
            <a:r>
              <a:t>• 15 000 учреждений × 50 000 руб./год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SAM: ~200 млн руб./год</a:t>
            </a:r>
          </a:p>
          <a:p>
            <a:pPr lvl="1">
              <a:defRPr sz="1800"/>
            </a:pPr>
            <a:r>
              <a:t>• 4 000 учреждений с бюджетом на цифру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SOM: ~10 млн руб./год</a:t>
            </a:r>
          </a:p>
          <a:p>
            <a:pPr lvl="1">
              <a:defRPr sz="1800"/>
            </a:pPr>
            <a:r>
              <a:t>• 200–300 клиентов за 1–3 года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Старт: Свердловская область (2 000+ организаций культуры)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/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Стадия:</a:t>
            </a:r>
          </a:p>
          <a:p>
            <a:pPr lvl="1">
              <a:defRPr sz="1800"/>
            </a:pPr>
            <a:r>
              <a:t>• Разработан прототип платформы</a:t>
            </a:r>
          </a:p>
          <a:p>
            <a:pPr lvl="1">
              <a:defRPr sz="1800"/>
            </a:pPr>
            <a:r>
              <a:t>• Спроектированы страницы и админ-панель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Подтверждённый интерес:</a:t>
            </a:r>
          </a:p>
          <a:p>
            <a:pPr lvl="1">
              <a:defRPr sz="1800"/>
            </a:pPr>
            <a:r>
              <a:t>• 11 интервью (Екатеринбург, Верхняя Пышма, Среднеуральск)</a:t>
            </a:r>
          </a:p>
          <a:p>
            <a:pPr lvl="1">
              <a:defRPr sz="1800"/>
            </a:pPr>
            <a:r>
              <a:t>• Более половины готовы попробовать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Рынок:</a:t>
            </a:r>
          </a:p>
          <a:p>
            <a:pPr lvl="1">
              <a:defRPr sz="1800"/>
            </a:pPr>
            <a:r>
              <a:t>• 10+ сегментов, свыше 10 000 потенциальных клиентов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СТРАТЕГИЯ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Год 1: Пилот в одном регионе</a:t>
            </a:r>
          </a:p>
          <a:p>
            <a:pPr lvl="1">
              <a:defRPr sz="1800"/>
            </a:pPr>
            <a:r>
              <a:t>• 10 учреждений, доработка по обратной связи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Год 2: Масштабирование на 3–5 регионов</a:t>
            </a:r>
          </a:p>
          <a:p>
            <a:pPr lvl="1">
              <a:defRPr sz="1800"/>
            </a:pPr>
            <a:r>
              <a:t>• 50–100 учреждений, первая стабильная выручка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Год 3: Федеральный охват</a:t>
            </a:r>
          </a:p>
          <a:p>
            <a:pPr lvl="1">
              <a:defRPr sz="1800"/>
            </a:pPr>
            <a:r>
              <a:t>• 200–300 клиентов, расширение продукта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Год 4–5: Платформенная модель</a:t>
            </a:r>
          </a:p>
          <a:p>
            <a:pPr lvl="1">
              <a:defRPr sz="1800"/>
            </a:pPr>
            <a:r>
              <a:t>• Рост без пропорционального увеличения команды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/ ФИНАНСЫ — Прогноз на 1–5 лет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Клиентов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Пессимистичный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Базовый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~1,2 млн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~1,9 млн руб.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~4,3 млн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~7,2 млн руб.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~10,1 млн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~17,5 млн руб.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~15,4 млн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~27,7 млн руб.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~24,4 млн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~44 млн руб.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/ ЗАПРОС ИНВЕСТИЦИЙ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Запрос: 1 000 000 рублей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Продукт (45% = 450 000 руб.):</a:t>
            </a:r>
          </a:p>
          <a:p>
            <a:pPr lvl="1">
              <a:defRPr sz="1800"/>
            </a:pPr>
            <a:r>
              <a:t>• Дизайн, вёрстка, модули, интеграции</a:t>
            </a:r>
          </a:p>
          <a:p>
            <a:pPr lvl="1">
              <a:defRPr sz="1800"/>
            </a:pPr>
            <a:r>
              <a:t>• Мобильное приложение для администратора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Продажи (55% = 550 000 руб.):</a:t>
            </a:r>
          </a:p>
          <a:p>
            <a:pPr lvl="1">
              <a:defRPr sz="1800"/>
            </a:pPr>
            <a:r>
              <a:t>• Менеджер по клиентам</a:t>
            </a:r>
          </a:p>
          <a:p>
            <a:pPr lvl="1">
              <a:defRPr sz="1800"/>
            </a:pPr>
            <a:r>
              <a:t>• Отраслевые мероприятия</a:t>
            </a:r>
          </a:p>
          <a:p>
            <a:pPr lvl="1">
              <a:defRPr sz="1800"/>
            </a:pPr>
            <a:r>
              <a:t>• Пилотные партнёрства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Почему грант: продукт готов, нужен финальный запуск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/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Семён — Руководитель проекта</a:t>
            </a:r>
          </a:p>
          <a:p>
            <a:pPr lvl="1">
              <a:defRPr sz="1800"/>
            </a:pPr>
            <a:r>
              <a:t>• Запуск интернет-проектов с 2019 года</a:t>
            </a:r>
          </a:p>
          <a:p>
            <a:pPr lvl="1">
              <a:defRPr sz="1800"/>
            </a:pPr>
            <a:r>
              <a:t>• Руководил командой 6+ человек</a:t>
            </a:r>
          </a:p>
          <a:p>
            <a:pPr lvl="1">
              <a:defRPr sz="1800"/>
            </a:pPr>
            <a:r>
              <a:t>• Контроль всех процессов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Алексей — Архитектура продукта</a:t>
            </a:r>
          </a:p>
          <a:p>
            <a:pPr lvl="1">
              <a:defRPr sz="1800"/>
            </a:pPr>
            <a:r>
              <a:t>• 50+ сайтов и платформ</a:t>
            </a:r>
          </a:p>
          <a:p>
            <a:pPr lvl="1">
              <a:defRPr sz="1800"/>
            </a:pPr>
            <a:r>
              <a:t>• smartranking.ru - федеральный агрегатор</a:t>
            </a:r>
          </a:p>
          <a:p>
            <a:pPr lvl="1">
              <a:defRPr sz="1800"/>
            </a:pPr>
            <a:r>
              <a:t>• Логика работы платформы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Культура.Онлайн</a:t>
            </a:r>
          </a:p>
          <a:p/>
          <a:p>
            <a:r>
              <a:t>Контакты:</a:t>
            </a:r>
          </a:p>
          <a:p>
            <a:r>
              <a:t>[Имя]</a:t>
            </a:r>
          </a:p>
          <a:p>
            <a:r>
              <a:t>[Email]</a:t>
            </a:r>
          </a:p>
          <a:p>
            <a:r>
              <a:t>[Телефон]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